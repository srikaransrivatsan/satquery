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Calibri (MS) Bold" panose="020B0604020202020204" charset="0"/>
      <p:regular r:id="rId10"/>
    </p:embeddedFont>
    <p:embeddedFont>
      <p:font typeface="Garamond Bold" panose="02020804030307010803" pitchFamily="18" charset="0"/>
      <p:regular r:id="rId11"/>
      <p:bold r:id="rId12"/>
    </p:embeddedFont>
    <p:embeddedFont>
      <p:font typeface="Tahoma" panose="020B0604030504040204" pitchFamily="34" charset="0"/>
      <p:regular r:id="rId13"/>
      <p:bold r:id="rId14"/>
    </p:embeddedFont>
    <p:embeddedFont>
      <p:font typeface="Tahoma Bold" panose="020B0804030504040204" pitchFamily="34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  <p:embeddedFont>
      <p:font typeface="Trade Gothic Condensed" panose="020B0604020202020204" charset="0"/>
      <p:regular r:id="rId19"/>
    </p:embeddedFont>
    <p:embeddedFont>
      <p:font typeface="Trade Gothic Condensed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bn03@outlook.com" userId="71bfe8a67417d79a" providerId="LiveId" clId="{17216500-525C-4C58-B665-AA1C8493E68C}"/>
    <pc:docChg chg="custSel modSld">
      <pc:chgData name="manasabn03@outlook.com" userId="71bfe8a67417d79a" providerId="LiveId" clId="{17216500-525C-4C58-B665-AA1C8493E68C}" dt="2026-08-29T17:45:15.032" v="15" actId="14100"/>
      <pc:docMkLst>
        <pc:docMk/>
      </pc:docMkLst>
      <pc:sldChg chg="addSp delSp modSp mod">
        <pc:chgData name="manasabn03@outlook.com" userId="71bfe8a67417d79a" providerId="LiveId" clId="{17216500-525C-4C58-B665-AA1C8493E68C}" dt="2026-08-29T17:45:15.032" v="15" actId="14100"/>
        <pc:sldMkLst>
          <pc:docMk/>
          <pc:sldMk cId="0" sldId="262"/>
        </pc:sldMkLst>
        <pc:spChg chg="add del">
          <ac:chgData name="manasabn03@outlook.com" userId="71bfe8a67417d79a" providerId="LiveId" clId="{17216500-525C-4C58-B665-AA1C8493E68C}" dt="2026-08-29T17:42:07.026" v="1" actId="478"/>
          <ac:spMkLst>
            <pc:docMk/>
            <pc:sldMk cId="0" sldId="262"/>
            <ac:spMk id="23" creationId="{CA4C151F-E568-B76D-A904-372225446334}"/>
          </ac:spMkLst>
        </pc:spChg>
        <pc:picChg chg="add mod">
          <ac:chgData name="manasabn03@outlook.com" userId="71bfe8a67417d79a" providerId="LiveId" clId="{17216500-525C-4C58-B665-AA1C8493E68C}" dt="2026-08-29T17:45:05.771" v="13" actId="1076"/>
          <ac:picMkLst>
            <pc:docMk/>
            <pc:sldMk cId="0" sldId="262"/>
            <ac:picMk id="25" creationId="{D8219DBD-AF48-7451-2172-2DDA54CE6205}"/>
          </ac:picMkLst>
        </pc:picChg>
        <pc:picChg chg="add mod">
          <ac:chgData name="manasabn03@outlook.com" userId="71bfe8a67417d79a" providerId="LiveId" clId="{17216500-525C-4C58-B665-AA1C8493E68C}" dt="2026-08-29T17:45:15.032" v="15" actId="14100"/>
          <ac:picMkLst>
            <pc:docMk/>
            <pc:sldMk cId="0" sldId="262"/>
            <ac:picMk id="27" creationId="{77E08331-E75D-776F-4C29-0B1BB3D1A4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?utm_source=copilot.com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arxiv.org/abs/2311.15826?utm_source=copilot.com" TargetMode="External"/><Relationship Id="rId12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103.00020?utm_source=copilot.com" TargetMode="External"/><Relationship Id="rId11" Type="http://schemas.openxmlformats.org/officeDocument/2006/relationships/image" Target="../media/image23.png"/><Relationship Id="rId5" Type="http://schemas.openxmlformats.org/officeDocument/2006/relationships/hyperlink" Target="https://www.bing.com/search?q=%22https%3A%2F%2Fdataspace.copernicus.eu%2Fdata-collections%2Fcopernicus-sentinel-missions%2Fsentinel-2%22&amp;utm_source=copilot.com" TargetMode="External"/><Relationship Id="rId10" Type="http://schemas.openxmlformats.org/officeDocument/2006/relationships/hyperlink" Target="https://gdal.org/?utm_source=copilot.com" TargetMode="External"/><Relationship Id="rId4" Type="http://schemas.openxmlformats.org/officeDocument/2006/relationships/image" Target="../media/image22.png"/><Relationship Id="rId9" Type="http://schemas.openxmlformats.org/officeDocument/2006/relationships/hyperlink" Target="https://www.bing.com/search?q=%22https%3A%2F%2Flink.springer.com%2Farticle%2F10.1007%2Fs10462-026-11501-0%22&amp;utm_source=copilo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82100" y="141405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979267" y="2710586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1423" y="485775"/>
            <a:ext cx="9832941" cy="93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16"/>
              </a:lnSpc>
            </a:pPr>
            <a:endParaRPr dirty="0"/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SIH26167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SatQuery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AI - An Interactive Vision-Language Assistant for Multimodal R</a:t>
            </a:r>
            <a:r>
              <a:rPr lang="en-US" sz="3600" b="1" u="none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ot</a:t>
            </a:r>
            <a:r>
              <a:rPr lang="en-US" sz="3600" b="1" u="none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Sensing Image Analysis through Text Queries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Theme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Space Technology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PS Category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Software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Team ID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- NIL</a:t>
            </a:r>
          </a:p>
          <a:p>
            <a:pPr marL="651510" lvl="1" indent="-325755" algn="just">
              <a:lnSpc>
                <a:spcPts val="7416"/>
              </a:lnSpc>
              <a:buFont typeface="Arial"/>
              <a:buChar char="•"/>
            </a:pPr>
            <a:r>
              <a:rPr lang="en-US" sz="3600" b="1" u="sng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Team Name</a:t>
            </a:r>
            <a:r>
              <a:rPr lang="en-US" sz="3600" b="1" dirty="0">
                <a:solidFill>
                  <a:srgbClr val="4A7EB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– Midnight Syntax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296469" y="-676275"/>
            <a:ext cx="12574832" cy="3352782"/>
            <a:chOff x="0" y="0"/>
            <a:chExt cx="16766443" cy="447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766443" cy="4470377"/>
            </a:xfrm>
            <a:custGeom>
              <a:avLst/>
              <a:gdLst/>
              <a:ahLst/>
              <a:cxnLst/>
              <a:rect l="l" t="t" r="r" b="b"/>
              <a:pathLst>
                <a:path w="16766443" h="4470377">
                  <a:moveTo>
                    <a:pt x="0" y="0"/>
                  </a:moveTo>
                  <a:lnTo>
                    <a:pt x="16766443" y="0"/>
                  </a:lnTo>
                  <a:lnTo>
                    <a:pt x="16766443" y="4470377"/>
                  </a:lnTo>
                  <a:lnTo>
                    <a:pt x="0" y="4470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086" r="-30890" b="-2122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6766443" cy="4498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endParaRPr dirty="0"/>
            </a:p>
            <a:p>
              <a:pPr algn="ctr">
                <a:lnSpc>
                  <a:spcPts val="4680"/>
                </a:lnSpc>
              </a:pPr>
              <a:r>
                <a:rPr lang="en-US" sz="39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SatQuery</a:t>
              </a:r>
              <a:r>
                <a:rPr lang="en-US" sz="39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AI - An Interactive Vision-Language Assistant for Multimodal Remote Sensing Image Analysis through Text Queries</a:t>
              </a:r>
            </a:p>
            <a:p>
              <a:pPr algn="ctr">
                <a:lnSpc>
                  <a:spcPts val="4680"/>
                </a:lnSpc>
              </a:pPr>
              <a:endPara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391400" y="1866900"/>
            <a:ext cx="9144000" cy="3097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 b="1" spc="-84" dirty="0">
                <a:solidFill>
                  <a:srgbClr val="000000"/>
                </a:solidFill>
                <a:ea typeface="Tahoma Bold"/>
                <a:cs typeface="Tahoma Bold"/>
                <a:sym typeface="Tahoma Bold"/>
              </a:rPr>
              <a:t>Our Solution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2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Natural language → AI routing (user asks, system selects the right model).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2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Multimodal analysis (text + image context).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2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Explainable outputs (bounding boxes, masks, confidence scores).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2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Modular router → easy to add new tasks.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2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Accessible interface →  no GIS expertise required</a:t>
            </a:r>
            <a:r>
              <a:rPr lang="en-US" sz="2000" b="1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.</a:t>
            </a:r>
          </a:p>
          <a:p>
            <a:pPr algn="l">
              <a:lnSpc>
                <a:spcPts val="2702"/>
              </a:lnSpc>
            </a:pPr>
            <a:endParaRPr lang="en-US" sz="2000" b="1" spc="-84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61DDCCF-8E04-1745-55A7-431AAA198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79" y="1866900"/>
            <a:ext cx="6781800" cy="6781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AE7AE6-1FA7-34C7-A471-C62402E1C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7131" y="4071562"/>
            <a:ext cx="5257800" cy="5257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2D0945-CA9F-A287-F195-E4793D05D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3338" y="5008915"/>
            <a:ext cx="4631933" cy="3913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6381150" y="5309240"/>
            <a:ext cx="11127113" cy="359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84" dirty="0">
                <a:solidFill>
                  <a:srgbClr val="000000"/>
                </a:solidFill>
                <a:ea typeface="Tahoma Bold"/>
                <a:cs typeface="Tahoma Bold"/>
                <a:sym typeface="Tahoma Bold"/>
              </a:rPr>
              <a:t>Technology Stack: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Frontend: React, HTML/CSS/JS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Backend: Python (</a:t>
            </a:r>
            <a:r>
              <a:rPr lang="en-US" sz="3000" spc="-84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FastAPI</a:t>
            </a: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/Flask)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AI/VLM: CLIP, </a:t>
            </a:r>
            <a:r>
              <a:rPr lang="en-US" sz="3000" spc="-84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LLaVA</a:t>
            </a: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-type VLM, LLM router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Computer Vision: YOLO, segmentation, change detection models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Geospatial Tools: </a:t>
            </a:r>
            <a:r>
              <a:rPr lang="en-US" sz="3000" spc="-84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Rasterio</a:t>
            </a: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, GDAL, </a:t>
            </a:r>
            <a:r>
              <a:rPr lang="en-US" sz="3000" spc="-84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GeoPandas</a:t>
            </a:r>
            <a:endParaRPr lang="en-US" sz="3000" spc="-84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Deployment: Docker, Cloud/GPU</a:t>
            </a:r>
          </a:p>
          <a:p>
            <a:pPr algn="l">
              <a:lnSpc>
                <a:spcPts val="2702"/>
              </a:lnSpc>
            </a:pPr>
            <a:endParaRPr lang="en-US" sz="3000" spc="-84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28399" y="5776570"/>
            <a:ext cx="1330328" cy="1367790"/>
          </a:xfrm>
          <a:custGeom>
            <a:avLst/>
            <a:gdLst/>
            <a:ahLst/>
            <a:cxnLst/>
            <a:rect l="l" t="t" r="r" b="b"/>
            <a:pathLst>
              <a:path w="1330328" h="1367790">
                <a:moveTo>
                  <a:pt x="0" y="0"/>
                </a:moveTo>
                <a:lnTo>
                  <a:pt x="1330329" y="0"/>
                </a:lnTo>
                <a:lnTo>
                  <a:pt x="1330329" y="1367790"/>
                </a:lnTo>
                <a:lnTo>
                  <a:pt x="0" y="1367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56994" y="7365330"/>
            <a:ext cx="1028062" cy="1163317"/>
          </a:xfrm>
          <a:custGeom>
            <a:avLst/>
            <a:gdLst/>
            <a:ahLst/>
            <a:cxnLst/>
            <a:rect l="l" t="t" r="r" b="b"/>
            <a:pathLst>
              <a:path w="1028062" h="1163317">
                <a:moveTo>
                  <a:pt x="0" y="0"/>
                </a:moveTo>
                <a:lnTo>
                  <a:pt x="1028062" y="0"/>
                </a:lnTo>
                <a:lnTo>
                  <a:pt x="1028062" y="1163317"/>
                </a:lnTo>
                <a:lnTo>
                  <a:pt x="0" y="116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952615" y="7080818"/>
            <a:ext cx="400050" cy="195577"/>
            <a:chOff x="0" y="0"/>
            <a:chExt cx="533400" cy="2607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127" cy="260604"/>
            </a:xfrm>
            <a:custGeom>
              <a:avLst/>
              <a:gdLst/>
              <a:ahLst/>
              <a:cxnLst/>
              <a:rect l="l" t="t" r="r" b="b"/>
              <a:pathLst>
                <a:path w="254127" h="260604">
                  <a:moveTo>
                    <a:pt x="254127" y="0"/>
                  </a:moveTo>
                  <a:lnTo>
                    <a:pt x="166878" y="0"/>
                  </a:lnTo>
                  <a:lnTo>
                    <a:pt x="166878" y="86233"/>
                  </a:lnTo>
                  <a:lnTo>
                    <a:pt x="87249" y="86233"/>
                  </a:lnTo>
                  <a:lnTo>
                    <a:pt x="87249" y="0"/>
                  </a:lnTo>
                  <a:lnTo>
                    <a:pt x="0" y="0"/>
                  </a:lnTo>
                  <a:lnTo>
                    <a:pt x="0" y="86233"/>
                  </a:lnTo>
                  <a:lnTo>
                    <a:pt x="0" y="172466"/>
                  </a:lnTo>
                  <a:lnTo>
                    <a:pt x="0" y="260477"/>
                  </a:lnTo>
                  <a:lnTo>
                    <a:pt x="87249" y="260477"/>
                  </a:lnTo>
                  <a:lnTo>
                    <a:pt x="87249" y="172593"/>
                  </a:lnTo>
                  <a:lnTo>
                    <a:pt x="167005" y="172593"/>
                  </a:lnTo>
                  <a:lnTo>
                    <a:pt x="167005" y="260604"/>
                  </a:lnTo>
                  <a:lnTo>
                    <a:pt x="254127" y="260604"/>
                  </a:lnTo>
                  <a:lnTo>
                    <a:pt x="254127" y="172593"/>
                  </a:lnTo>
                  <a:lnTo>
                    <a:pt x="254127" y="86233"/>
                  </a:lnTo>
                  <a:lnTo>
                    <a:pt x="25412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91973" y="0"/>
              <a:ext cx="240792" cy="260477"/>
            </a:xfrm>
            <a:custGeom>
              <a:avLst/>
              <a:gdLst/>
              <a:ahLst/>
              <a:cxnLst/>
              <a:rect l="l" t="t" r="r" b="b"/>
              <a:pathLst>
                <a:path w="240792" h="260477">
                  <a:moveTo>
                    <a:pt x="240792" y="0"/>
                  </a:moveTo>
                  <a:lnTo>
                    <a:pt x="0" y="0"/>
                  </a:lnTo>
                  <a:lnTo>
                    <a:pt x="0" y="86233"/>
                  </a:lnTo>
                  <a:lnTo>
                    <a:pt x="76708" y="86233"/>
                  </a:lnTo>
                  <a:lnTo>
                    <a:pt x="76708" y="260477"/>
                  </a:lnTo>
                  <a:lnTo>
                    <a:pt x="163957" y="260477"/>
                  </a:lnTo>
                  <a:lnTo>
                    <a:pt x="163957" y="86233"/>
                  </a:lnTo>
                  <a:lnTo>
                    <a:pt x="240792" y="86233"/>
                  </a:lnTo>
                  <a:lnTo>
                    <a:pt x="24079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2380831" y="7080818"/>
            <a:ext cx="220208" cy="195224"/>
            <a:chOff x="0" y="0"/>
            <a:chExt cx="293611" cy="26029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3624" cy="260350"/>
            </a:xfrm>
            <a:custGeom>
              <a:avLst/>
              <a:gdLst/>
              <a:ahLst/>
              <a:cxnLst/>
              <a:rect l="l" t="t" r="r" b="b"/>
              <a:pathLst>
                <a:path w="293624" h="260350">
                  <a:moveTo>
                    <a:pt x="0" y="0"/>
                  </a:moveTo>
                  <a:lnTo>
                    <a:pt x="293624" y="0"/>
                  </a:lnTo>
                  <a:lnTo>
                    <a:pt x="293624" y="260350"/>
                  </a:lnTo>
                  <a:lnTo>
                    <a:pt x="0" y="26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68" r="4" b="-248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2633586" y="7080818"/>
            <a:ext cx="157477" cy="195577"/>
            <a:chOff x="0" y="0"/>
            <a:chExt cx="209969" cy="2607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9804" cy="260477"/>
            </a:xfrm>
            <a:custGeom>
              <a:avLst/>
              <a:gdLst/>
              <a:ahLst/>
              <a:cxnLst/>
              <a:rect l="l" t="t" r="r" b="b"/>
              <a:pathLst>
                <a:path w="209804" h="260477">
                  <a:moveTo>
                    <a:pt x="209804" y="174244"/>
                  </a:moveTo>
                  <a:lnTo>
                    <a:pt x="87249" y="174244"/>
                  </a:lnTo>
                  <a:lnTo>
                    <a:pt x="87249" y="0"/>
                  </a:lnTo>
                  <a:lnTo>
                    <a:pt x="0" y="0"/>
                  </a:lnTo>
                  <a:lnTo>
                    <a:pt x="0" y="174244"/>
                  </a:lnTo>
                  <a:lnTo>
                    <a:pt x="0" y="260477"/>
                  </a:lnTo>
                  <a:lnTo>
                    <a:pt x="209804" y="260477"/>
                  </a:lnTo>
                  <a:lnTo>
                    <a:pt x="209804" y="17424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119047" y="5704075"/>
            <a:ext cx="1304106" cy="1511303"/>
            <a:chOff x="0" y="0"/>
            <a:chExt cx="1738808" cy="20150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38757" cy="2015109"/>
            </a:xfrm>
            <a:custGeom>
              <a:avLst/>
              <a:gdLst/>
              <a:ahLst/>
              <a:cxnLst/>
              <a:rect l="l" t="t" r="r" b="b"/>
              <a:pathLst>
                <a:path w="1738757" h="2015109">
                  <a:moveTo>
                    <a:pt x="0" y="0"/>
                  </a:moveTo>
                  <a:lnTo>
                    <a:pt x="1738757" y="0"/>
                  </a:lnTo>
                  <a:lnTo>
                    <a:pt x="1738757" y="2015109"/>
                  </a:lnTo>
                  <a:lnTo>
                    <a:pt x="0" y="201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3" r="-86" b="1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4469797" y="7214168"/>
            <a:ext cx="1397003" cy="1313698"/>
            <a:chOff x="0" y="0"/>
            <a:chExt cx="1862671" cy="17515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62709" cy="1751584"/>
            </a:xfrm>
            <a:custGeom>
              <a:avLst/>
              <a:gdLst/>
              <a:ahLst/>
              <a:cxnLst/>
              <a:rect l="l" t="t" r="r" b="b"/>
              <a:pathLst>
                <a:path w="1862709" h="1751584">
                  <a:moveTo>
                    <a:pt x="0" y="0"/>
                  </a:moveTo>
                  <a:lnTo>
                    <a:pt x="1862709" y="0"/>
                  </a:lnTo>
                  <a:lnTo>
                    <a:pt x="1862709" y="1751584"/>
                  </a:lnTo>
                  <a:lnTo>
                    <a:pt x="0" y="1751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85" r="2" b="-86"/>
              </a:stretch>
            </a:blipFill>
          </p:spPr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C48AB17-A2BF-8DB0-910C-F5A1375CCC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057" y="1655598"/>
            <a:ext cx="12068185" cy="354315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590D1E4-BF41-763F-9599-41A1474BB3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98401" y="3620304"/>
            <a:ext cx="4942542" cy="26981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D43B17B-CC3F-694D-580D-8B1BA4694A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65880" y="1621975"/>
            <a:ext cx="2438025" cy="173676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4F22154-4A03-14F0-91DA-6C25D0625F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54543" y="1707240"/>
            <a:ext cx="2338274" cy="1577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99552" y="1882550"/>
            <a:ext cx="13387848" cy="7310438"/>
          </a:xfrm>
          <a:custGeom>
            <a:avLst/>
            <a:gdLst/>
            <a:ahLst/>
            <a:cxnLst/>
            <a:rect l="l" t="t" r="r" b="b"/>
            <a:pathLst>
              <a:path w="17347081" h="7889081">
                <a:moveTo>
                  <a:pt x="0" y="0"/>
                </a:moveTo>
                <a:lnTo>
                  <a:pt x="17347080" y="0"/>
                </a:lnTo>
                <a:lnTo>
                  <a:pt x="17347080" y="7889082"/>
                </a:lnTo>
                <a:lnTo>
                  <a:pt x="0" y="7889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12"/>
            </a:stretch>
          </a:blipFill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08B89DF-0DEB-105D-A264-13B203875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9560" y="2758348"/>
            <a:ext cx="4762913" cy="65690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26622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9513622" y="5003653"/>
            <a:ext cx="8669603" cy="4153988"/>
          </a:xfrm>
          <a:custGeom>
            <a:avLst/>
            <a:gdLst/>
            <a:ahLst/>
            <a:cxnLst/>
            <a:rect l="l" t="t" r="r" b="b"/>
            <a:pathLst>
              <a:path w="8669603" h="4153988">
                <a:moveTo>
                  <a:pt x="0" y="0"/>
                </a:moveTo>
                <a:lnTo>
                  <a:pt x="8669603" y="0"/>
                </a:lnTo>
                <a:lnTo>
                  <a:pt x="8669603" y="4153988"/>
                </a:lnTo>
                <a:lnTo>
                  <a:pt x="0" y="4153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48" r="-1559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02656" y="4825870"/>
            <a:ext cx="9144069" cy="4204753"/>
          </a:xfrm>
          <a:custGeom>
            <a:avLst/>
            <a:gdLst/>
            <a:ahLst/>
            <a:cxnLst/>
            <a:rect l="l" t="t" r="r" b="b"/>
            <a:pathLst>
              <a:path w="9144069" h="4204753">
                <a:moveTo>
                  <a:pt x="0" y="0"/>
                </a:moveTo>
                <a:lnTo>
                  <a:pt x="9144069" y="0"/>
                </a:lnTo>
                <a:lnTo>
                  <a:pt x="9144069" y="4204753"/>
                </a:lnTo>
                <a:lnTo>
                  <a:pt x="0" y="4204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629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27987" y="2409825"/>
            <a:ext cx="13992588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Government: Disaster monitoring, infrastructure planning, urban expansion analysis.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Agriculture: Crop monitoring, irrigation assessment, land-use classification.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Disaster Management: Flood/fire detection, post-disaster change analysis.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Environment: Forest cover, water-body monitoring, climate change tracking.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 spc="-84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Researchers: Faster exploration of satellite data with natural-language queries.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7547" y="1987002"/>
            <a:ext cx="1121307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84" dirty="0">
                <a:solidFill>
                  <a:srgbClr val="000000"/>
                </a:solidFill>
                <a:ea typeface="Tahoma Bold"/>
                <a:cs typeface="Tahoma Bold"/>
                <a:sym typeface="Tahoma Bold"/>
              </a:rPr>
              <a:t>Impact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4D5F66-D807-0D16-9E3A-644FDC16A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6133" y="1658044"/>
            <a:ext cx="3266139" cy="32661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Midnight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Syntax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8703090" y="4988742"/>
            <a:ext cx="8806620" cy="4269558"/>
          </a:xfrm>
          <a:custGeom>
            <a:avLst/>
            <a:gdLst/>
            <a:ahLst/>
            <a:cxnLst/>
            <a:rect l="l" t="t" r="r" b="b"/>
            <a:pathLst>
              <a:path w="8806620" h="4269558">
                <a:moveTo>
                  <a:pt x="0" y="0"/>
                </a:moveTo>
                <a:lnTo>
                  <a:pt x="8806620" y="0"/>
                </a:lnTo>
                <a:lnTo>
                  <a:pt x="8806620" y="4269558"/>
                </a:lnTo>
                <a:lnTo>
                  <a:pt x="0" y="426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08" b="-29637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14400" y="1943100"/>
            <a:ext cx="14021242" cy="3200400"/>
            <a:chOff x="0" y="0"/>
            <a:chExt cx="18694990" cy="42672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609600"/>
              <a:ext cx="18694990" cy="365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Remote-Sensing Datasets: Copernicus Sentinel-2 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5" tooltip="https://www.bing.com/search?q=%22https%3A%2F%2Fdataspace.copernicus.eu%2Fdata-collections%2Fcopernicus-sentinel-missions%2Fsentinel-2%22&amp;utm_source=copilot.com"/>
                </a:rPr>
                <a:t>(</a:t>
              </a:r>
              <a:r>
                <a:rPr lang="en-US" sz="3000" u="sng" spc="-84" dirty="0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5" tooltip="https://www.bing.com/search?q=%22https%3A%2F%2Fdataspace.copernicus.eu%2Fdata-collections%2Fcopernicus-sentinel-missions%2Fsentinel-2%22&amp;utm_source=copilot.com"/>
                </a:rPr>
                <a:t>dataspace.copernicus.eu in Bing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5" tooltip="https://www.bing.com/search?q=%22https%3A%2F%2Fdataspace.copernicus.eu%2Fdata-collections%2Fcopernicus-sentinel-missions%2Fsentinel-2%22&amp;utm_source=copilot.com"/>
                </a:rPr>
                <a:t>)</a:t>
              </a:r>
            </a:p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Vision-Language Models: 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6" tooltip="https://arxiv.org/abs/2103.00020?utm_source=copilot.com"/>
                </a:rPr>
                <a:t>CLIP (</a:t>
              </a:r>
              <a:r>
                <a:rPr lang="en-US" sz="3000" u="sng" spc="-84" dirty="0" err="1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6" tooltip="https://arxiv.org/abs/2103.00020?utm_source=copilot.com"/>
                </a:rPr>
                <a:t>arXiv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6" tooltip="https://arxiv.org/abs/2103.00020?utm_source=copilot.com"/>
                </a:rPr>
                <a:t>)</a:t>
              </a:r>
            </a:p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Remote-Sensing VLM Research: </a:t>
              </a:r>
              <a:r>
                <a:rPr lang="en-US" sz="3000" u="sng" spc="-84" dirty="0" err="1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7" tooltip="https://arxiv.org/abs/2311.15826?utm_source=copilot.com"/>
                </a:rPr>
                <a:t>arXiv</a:t>
              </a:r>
              <a:r>
                <a:rPr lang="en-US" sz="3000" u="sng" spc="-84" dirty="0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7" tooltip="https://arxiv.org/abs/2311.15826?utm_source=copilot.com"/>
                </a:rPr>
                <a:t> 2311.15826</a:t>
              </a:r>
            </a:p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Object Detection Models: </a:t>
              </a:r>
              <a:r>
                <a:rPr lang="en-US" sz="3000" u="sng" spc="-84" dirty="0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8" tooltip="https://docs.ultralytics.com/?utm_source=copilot.com"/>
                </a:rPr>
                <a:t>YOLO Documentation</a:t>
              </a:r>
            </a:p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Change Detection Research: Springer AI Review 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9" tooltip="https://www.bing.com/search?q=%22https%3A%2F%2Flink.springer.com%2Farticle%2F10.1007%2Fs10462-026-11501-0%22&amp;utm_source=copilot.com"/>
                </a:rPr>
                <a:t>(</a:t>
              </a:r>
              <a:r>
                <a:rPr lang="en-US" sz="3000" u="sng" spc="-84" dirty="0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9" tooltip="https://www.bing.com/search?q=%22https%3A%2F%2Flink.springer.com%2Farticle%2F10.1007%2Fs10462-026-11501-0%22&amp;utm_source=copilot.com"/>
                </a:rPr>
                <a:t>link.springer.com in Bing</a:t>
              </a:r>
              <a:r>
                <a:rPr lang="en-US" sz="3000" u="sng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  <a:hlinkClick r:id="rId9" tooltip="https://www.bing.com/search?q=%22https%3A%2F%2Flink.springer.com%2Farticle%2F10.1007%2Fs10462-026-11501-0%22&amp;utm_source=copilot.com"/>
                </a:rPr>
                <a:t>)</a:t>
              </a:r>
            </a:p>
            <a:p>
              <a:pPr marL="647700" lvl="1" indent="-323850" algn="just">
                <a:lnSpc>
                  <a:spcPts val="3600"/>
                </a:lnSpc>
                <a:buFont typeface="Arial"/>
                <a:buChar char="•"/>
              </a:pPr>
              <a:r>
                <a:rPr lang="en-US" sz="3000" spc="-84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Geospatial Tools: </a:t>
              </a:r>
              <a:r>
                <a:rPr lang="en-US" sz="3000" u="sng" spc="-84" dirty="0">
                  <a:solidFill>
                    <a:srgbClr val="0070C0"/>
                  </a:solidFill>
                  <a:ea typeface="Tahoma"/>
                  <a:cs typeface="Tahoma"/>
                  <a:sym typeface="Tahoma"/>
                  <a:hlinkClick r:id="rId10" tooltip="https://gdal.org/?utm_source=copilot.com"/>
                </a:rPr>
                <a:t>GDAL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415" y="0"/>
              <a:ext cx="14950769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 spc="-84">
                  <a:solidFill>
                    <a:srgbClr val="000000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RESEARCH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8219DBD-AF48-7451-2172-2DDA54CE62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68171" y="1708205"/>
            <a:ext cx="2943657" cy="3232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7E08331-E75D-776F-4C29-0B1BB3D1A4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5294125"/>
            <a:ext cx="5715000" cy="40070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335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Times New Roman Bold</vt:lpstr>
      <vt:lpstr>Tahoma</vt:lpstr>
      <vt:lpstr>Garamond Bold</vt:lpstr>
      <vt:lpstr>Tahoma Bold</vt:lpstr>
      <vt:lpstr>Trade Gothic Condensed</vt:lpstr>
      <vt:lpstr>Arial Bold</vt:lpstr>
      <vt:lpstr>Calibri (MS) Bold</vt:lpstr>
      <vt:lpstr>Arial</vt:lpstr>
      <vt:lpstr>Trade Gothic Condensed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manas</dc:creator>
  <cp:lastModifiedBy>Srikaran Srivatsan</cp:lastModifiedBy>
  <cp:revision>3</cp:revision>
  <dcterms:created xsi:type="dcterms:W3CDTF">2006-08-16T00:00:00Z</dcterms:created>
  <dcterms:modified xsi:type="dcterms:W3CDTF">2026-09-16T07:01:27Z</dcterms:modified>
  <dc:identifier>DAHTr1HqXDM</dc:identifier>
</cp:coreProperties>
</file>
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8288000" cy="10287000"/>
  <p:notesSz cx="6858000" cy="9144000"/>
  <p:embeddedFontLst>
    <p:embeddedFont>
      <p:font typeface="Garamond Bold" panose="02020804030307010803" pitchFamily="18" charset="0"/>
      <p:regular r:id="rId8"/>
      <p:bold r:id="rId9"/>
    </p:embeddedFont>
    <p:embeddedFont>
      <p:font typeface="Times New Roman Bold" panose="02020803070505020304" pitchFamily="18" charset="0"/>
      <p:regular r:id="rId10"/>
      <p:bold r:id="rId11"/>
    </p:embeddedFont>
    <p:embeddedFont>
      <p:font typeface="Trade Gothic Condensed" panose="020B0604020202020204" charset="0"/>
      <p:regular r:id="rId12"/>
    </p:embeddedFont>
    <p:embeddedFont>
      <p:font typeface="Trade Gothic Condensed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hyperlink" Target="https://gdal.org/?utm_source=copilo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82100" y="141405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979267" y="2710586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3141" y="485775"/>
            <a:ext cx="9832941" cy="93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16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Problem Statement ID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- SIH26167</a:t>
            </a: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Problem Statement Title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- </a:t>
            </a:r>
            <a:r>
              <a:rPr lang="en-US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SatQuery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AI - An Interactive Vision-Language Assistant for Multimodal R</a:t>
            </a:r>
            <a:r>
              <a:rPr lang="en-US" sz="36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em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ot</a:t>
            </a:r>
            <a:r>
              <a:rPr lang="en-US" sz="36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e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Sensing Image Analysis through Text Queries</a:t>
            </a: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Theme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- Space Technology</a:t>
            </a: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PS Category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- Software</a:t>
            </a: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Team ID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- NIL</a:t>
            </a: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Team Name</a:t>
            </a:r>
            <a:r>
              <a:rPr lang="en-US" sz="3600" b="1" dirty="0">
                <a:solidFill>
                  <a:srgbClr val="4A7EBB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– Midnight Syntax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2729ED83-C695-6036-8F50-96D8BBC9F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95781"/>
            <a:ext cx="15482859" cy="772631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Midnight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Syntax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96469" y="-676275"/>
            <a:ext cx="12574832" cy="3352782"/>
            <a:chOff x="0" y="0"/>
            <a:chExt cx="16766443" cy="44703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766443" cy="4470377"/>
            </a:xfrm>
            <a:custGeom>
              <a:avLst/>
              <a:gdLst/>
              <a:ahLst/>
              <a:cxnLst/>
              <a:rect l="l" t="t" r="r" b="b"/>
              <a:pathLst>
                <a:path w="16766443" h="4470377">
                  <a:moveTo>
                    <a:pt x="0" y="0"/>
                  </a:moveTo>
                  <a:lnTo>
                    <a:pt x="16766443" y="0"/>
                  </a:lnTo>
                  <a:lnTo>
                    <a:pt x="16766443" y="4470377"/>
                  </a:lnTo>
                  <a:lnTo>
                    <a:pt x="0" y="447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086" r="-30890" b="-2122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6766443" cy="449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endParaRPr dirty="0"/>
            </a:p>
            <a:p>
              <a:pPr algn="ctr">
                <a:lnSpc>
                  <a:spcPts val="4680"/>
                </a:lnSpc>
              </a:pPr>
              <a:r>
                <a:rPr lang="en-US" sz="36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SatQuery</a:t>
              </a:r>
              <a:r>
                <a:rPr lang="en-US" sz="3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AI - An Interactive Vision-Language Assistant for Multimodal Remote Sensing Image Analysis through Text Queries</a:t>
              </a:r>
            </a:p>
            <a:p>
              <a:pPr algn="ctr">
                <a:lnSpc>
                  <a:spcPts val="4680"/>
                </a:lnSpc>
              </a:pPr>
              <a:endParaRPr lang="en-US" sz="3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" panose="02020603050405020304" pitchFamily="18" charset="0"/>
                  <a:ea typeface="Trade Gothic Condensed Bold"/>
                  <a:cs typeface="Times New Roman" panose="02020603050405020304" pitchFamily="18" charset="0"/>
                  <a:sym typeface="Trade Gothic Condensed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 panose="02020603050405020304" pitchFamily="18" charset="0"/>
                  <a:ea typeface="Trade Gothic Condensed"/>
                  <a:cs typeface="Times New Roman" panose="02020603050405020304" pitchFamily="18" charset="0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Midnight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Syntax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67847831-8450-DF0D-3A12-CB6C961074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165" b="4329"/>
          <a:stretch>
            <a:fillRect/>
          </a:stretch>
        </p:blipFill>
        <p:spPr>
          <a:xfrm>
            <a:off x="3564176" y="1822703"/>
            <a:ext cx="14480755" cy="713169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5513BAD-0627-0773-5261-193BBA8CB2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7" t="2488" r="23548" b="3306"/>
          <a:stretch>
            <a:fillRect/>
          </a:stretch>
        </p:blipFill>
        <p:spPr>
          <a:xfrm>
            <a:off x="0" y="1664493"/>
            <a:ext cx="3562988" cy="76880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" panose="02020603050405020304" pitchFamily="18" charset="0"/>
                  <a:ea typeface="Trade Gothic Condensed Bold"/>
                  <a:cs typeface="Times New Roman" panose="02020603050405020304" pitchFamily="18" charset="0"/>
                  <a:sym typeface="Trade Gothic Condensed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 panose="02020603050405020304" pitchFamily="18" charset="0"/>
                  <a:ea typeface="Trade Gothic Condensed"/>
                  <a:cs typeface="Times New Roman" panose="02020603050405020304" pitchFamily="18" charset="0"/>
                  <a:sym typeface="Trade Gothic Condensed"/>
                </a:rPr>
                <a:t>@SIH Idea submission- Template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F70F867C-2697-C0E7-9B63-2D9DC289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39" b="5245"/>
          <a:stretch>
            <a:fillRect/>
          </a:stretch>
        </p:blipFill>
        <p:spPr>
          <a:xfrm>
            <a:off x="301040" y="1255865"/>
            <a:ext cx="17499316" cy="8202804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Midnight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Syntax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DDB7936C-EF32-F8B6-FAA3-CF475E3B44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75" t="13090" r="3125" b="4448"/>
          <a:stretch>
            <a:fillRect/>
          </a:stretch>
        </p:blipFill>
        <p:spPr>
          <a:xfrm>
            <a:off x="2039975" y="1672530"/>
            <a:ext cx="14670650" cy="758807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105191"/>
            <a:ext cx="16459200" cy="1735931"/>
            <a:chOff x="0" y="-28575"/>
            <a:chExt cx="21945600" cy="23145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" panose="02020603050405020304" pitchFamily="18" charset="0"/>
                  <a:ea typeface="Trade Gothic Condensed Bold"/>
                  <a:cs typeface="Times New Roman" panose="02020603050405020304" pitchFamily="18" charset="0"/>
                  <a:sym typeface="Trade Gothic Condensed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 panose="02020603050405020304" pitchFamily="18" charset="0"/>
                  <a:ea typeface="Trade Gothic Condensed"/>
                  <a:cs typeface="Times New Roman" panose="02020603050405020304" pitchFamily="18" charset="0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Midnight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Syntax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427987" y="2409825"/>
            <a:ext cx="1399258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endParaRPr lang="en-US" sz="3000" spc="-84" dirty="0">
              <a:solidFill>
                <a:srgbClr val="000000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" panose="02020603050405020304" pitchFamily="18" charset="0"/>
                  <a:ea typeface="Trade Gothic Condensed Bold"/>
                  <a:cs typeface="Times New Roman" panose="02020603050405020304" pitchFamily="18" charset="0"/>
                  <a:sym typeface="Trade Gothic Condensed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 panose="02020603050405020304" pitchFamily="18" charset="0"/>
                  <a:ea typeface="Trade Gothic Condensed"/>
                  <a:cs typeface="Times New Roman" panose="02020603050405020304" pitchFamily="18" charset="0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Midnight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 (MS) Bold"/>
                  <a:cs typeface="Times New Roman" panose="02020603050405020304" pitchFamily="18" charset="0"/>
                  <a:sym typeface="Calibri (MS) Bold"/>
                </a:rPr>
                <a:t>Syntax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14400" y="1943100"/>
            <a:ext cx="14021242" cy="918865"/>
            <a:chOff x="0" y="0"/>
            <a:chExt cx="18694990" cy="1225153"/>
          </a:xfrm>
        </p:grpSpPr>
        <p:sp>
          <p:nvSpPr>
            <p:cNvPr id="20" name="TextBox 20"/>
            <p:cNvSpPr txBox="1"/>
            <p:nvPr/>
          </p:nvSpPr>
          <p:spPr>
            <a:xfrm>
              <a:off x="0" y="609600"/>
              <a:ext cx="1869499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just">
                <a:lnSpc>
                  <a:spcPts val="3600"/>
                </a:lnSpc>
                <a:buFont typeface="Arial"/>
                <a:buChar char="•"/>
              </a:pPr>
              <a:endParaRPr lang="en-US" sz="3000" u="sng" spc="-84" dirty="0">
                <a:solidFill>
                  <a:srgbClr val="0070C0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  <a:hlinkClick r:id="rId4" tooltip="https://gdal.org/?utm_source=copilot.com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415" y="0"/>
              <a:ext cx="14950769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endParaRPr lang="en-US" sz="3000" b="1" spc="-84" dirty="0">
                <a:solidFill>
                  <a:srgbClr val="000000"/>
                </a:solidFill>
                <a:latin typeface="Times New Roman" panose="02020603050405020304" pitchFamily="18" charset="0"/>
                <a:ea typeface="Tahoma Bold"/>
                <a:cs typeface="Times New Roman" panose="02020603050405020304" pitchFamily="18" charset="0"/>
                <a:sym typeface="Tahoma Bold"/>
              </a:endParaRPr>
            </a:p>
          </p:txBody>
        </p:sp>
      </p:grpSp>
      <p:sp>
        <p:nvSpPr>
          <p:cNvPr id="30" name="Repo Banner BG"/>
          <p:cNvSpPr/>
          <p:nvPr/>
        </p:nvSpPr>
        <p:spPr>
          <a:xfrm>
            <a:off x="914400" y="1943100"/>
            <a:ext cx="16459200" cy="100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po Banner Text"/>
          <p:cNvSpPr txBox="1"/>
          <p:nvPr/>
        </p:nvSpPr>
        <p:spPr>
          <a:xfrm>
            <a:off x="1114400" y="1943100"/>
            <a:ext cx="16059200" cy="1000000"/>
          </a:xfrm>
          <a:prstGeom prst="rect">
            <a:avLst/>
          </a:prstGeom>
        </p:spPr>
        <p:txBody>
          <a:bodyPr wrap="square" lIns="137160" tIns="68580" rIns="137160" bIns="6858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REPOSITORIES</a:t>
            </a:r>
          </a:p>
          <a:p>
            <a:pPr marL="0" indent="0">
              <a:buNone/>
            </a:pPr>
            <a:endParaRPr lang="en-US" sz="2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https://github.com/shiva181-bit/SatQuery_1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https://github.com/nandakishore939143-tech/SIH_frontend_ms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Backend Card BG"/>
          <p:cNvSpPr/>
          <p:nvPr/>
        </p:nvSpPr>
        <p:spPr>
          <a:xfrm>
            <a:off x="914400" y="3093100"/>
            <a:ext cx="7900000" cy="2940083"/>
          </a:xfrm>
          <a:prstGeom prst="roundRect">
            <a:avLst>
              <a:gd name="adj" fmla="val 5000"/>
            </a:avLst>
          </a:prstGeom>
          <a:solidFill>
            <a:srgbClr val="1E8449"/>
          </a:solidFill>
          <a:ln>
            <a:noFill/>
          </a:ln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Backend Card Text"/>
          <p:cNvSpPr txBox="1"/>
          <p:nvPr/>
        </p:nvSpPr>
        <p:spPr>
          <a:xfrm>
            <a:off x="1064400" y="3093100"/>
            <a:ext cx="7600000" cy="2940083"/>
          </a:xfrm>
          <a:prstGeom prst="rect">
            <a:avLst/>
          </a:prstGeom>
        </p:spPr>
        <p:txBody>
          <a:bodyPr wrap="square" lIns="137160" tIns="68580" rIns="137160" bIns="6858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SETUP — GOOGLE COLAB</a:t>
            </a:r>
          </a:p>
          <a:p>
            <a:pPr marL="0" indent="0">
              <a:buNone/>
            </a:pPr>
            <a:endParaRPr lang="en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Mount Drive &amp; verify GPU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BLIP-2 model + LoRA weights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 FastAPI :8000, start tunnel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/health endpoint</a:t>
            </a:r>
          </a:p>
        </p:txBody>
      </p:sp>
      <p:sp>
        <p:nvSpPr>
          <p:cNvPr id="34" name="Frontend Card BG"/>
          <p:cNvSpPr/>
          <p:nvPr/>
        </p:nvSpPr>
        <p:spPr>
          <a:xfrm>
            <a:off x="9114400" y="3093100"/>
            <a:ext cx="8173600" cy="2940083"/>
          </a:xfrm>
          <a:prstGeom prst="roundRect">
            <a:avLst>
              <a:gd name="adj" fmla="val 5000"/>
            </a:avLst>
          </a:prstGeom>
          <a:solidFill>
            <a:srgbClr val="8064A2"/>
          </a:solidFill>
          <a:ln>
            <a:noFill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rontend Card Text"/>
          <p:cNvSpPr txBox="1"/>
          <p:nvPr/>
        </p:nvSpPr>
        <p:spPr>
          <a:xfrm>
            <a:off x="9264400" y="3093100"/>
            <a:ext cx="7873600" cy="2940083"/>
          </a:xfrm>
          <a:prstGeom prst="rect">
            <a:avLst/>
          </a:prstGeom>
        </p:spPr>
        <p:txBody>
          <a:bodyPr wrap="square" lIns="137160" tIns="68580" rIns="137160" bIns="6858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SETUP — WIN / VS CODE</a:t>
            </a:r>
          </a:p>
          <a:p>
            <a:pPr marL="0" indent="0">
              <a:buNone/>
            </a:pPr>
            <a:endParaRPr lang="en-US" sz="32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.env with tunnel URL</a:t>
            </a:r>
          </a:p>
          <a:p>
            <a:pPr marL="342900" indent="-342900"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backend &amp; frontend servers</a:t>
            </a:r>
          </a:p>
          <a:p>
            <a:pPr marL="342900" indent="-342900"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localhost:5173 &amp; log in</a:t>
            </a:r>
          </a:p>
        </p:txBody>
      </p:sp>
      <p:sp>
        <p:nvSpPr>
          <p:cNvPr id="36" name="Demo Flow Card BG"/>
          <p:cNvSpPr/>
          <p:nvPr/>
        </p:nvSpPr>
        <p:spPr>
          <a:xfrm>
            <a:off x="914400" y="6033183"/>
            <a:ext cx="7139000" cy="3267980"/>
          </a:xfrm>
          <a:prstGeom prst="roundRect">
            <a:avLst>
              <a:gd name="adj" fmla="val 5000"/>
            </a:avLst>
          </a:prstGeom>
          <a:solidFill>
            <a:srgbClr val="C55A11"/>
          </a:solidFill>
          <a:ln>
            <a:noFill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Demo Flow Card Text"/>
          <p:cNvSpPr txBox="1"/>
          <p:nvPr/>
        </p:nvSpPr>
        <p:spPr>
          <a:xfrm>
            <a:off x="1064400" y="6033183"/>
            <a:ext cx="6839000" cy="3267980"/>
          </a:xfrm>
          <a:prstGeom prst="rect">
            <a:avLst/>
          </a:prstGeom>
        </p:spPr>
        <p:txBody>
          <a:bodyPr wrap="square" lIns="137160" tIns="68580" rIns="137160" bIns="6858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FLOW</a:t>
            </a:r>
          </a:p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alibri"/>
              <a:buAutoNum type="arabicPeriod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 marL="457200" indent="-457200">
              <a:buFont typeface="Calibri"/>
              <a:buAutoNum type="arabicPeriod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</a:p>
          <a:p>
            <a:pPr marL="457200" indent="-457200">
              <a:buFont typeface="Calibri"/>
              <a:buAutoNum type="arabicPeriod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image</a:t>
            </a:r>
          </a:p>
          <a:p>
            <a:pPr marL="457200" indent="-457200">
              <a:buFont typeface="Calibri"/>
              <a:buAutoNum type="arabicPeriod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Pose queries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64BB9B-F165-A2C5-8B09-FD65C34B10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231" y="6033183"/>
            <a:ext cx="9791700" cy="3267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204</Words>
  <Application>Microsoft Office PowerPoint</Application>
  <PresentationFormat>Custom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Times New Roman Bold</vt:lpstr>
      <vt:lpstr>Garamond Bold</vt:lpstr>
      <vt:lpstr>Trade Gothic Condensed</vt:lpstr>
      <vt:lpstr>Arial</vt:lpstr>
      <vt:lpstr>Times New Roman</vt:lpstr>
      <vt:lpstr>Trade Gothic Condensed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Problem Statement Title- Theme- PS Category- Software/Hardware Team ID- Team Name (Registered on portal)</dc:title>
  <dc:creator>manas</dc:creator>
  <cp:lastModifiedBy>Srikaran Srivatsan</cp:lastModifiedBy>
  <cp:revision>27</cp:revision>
  <dcterms:created xsi:type="dcterms:W3CDTF">2006-08-16T00:00:00Z</dcterms:created>
  <dcterms:modified xsi:type="dcterms:W3CDTF">2026-09-17T07:39:44Z</dcterms:modified>
  <dc:identifier>DAHTr1HqXDM</dc:identifier>
</cp:coreProperties>
</file>